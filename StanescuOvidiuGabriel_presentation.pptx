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Job Change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ML Classification Project</a:t>
            </a:r>
            <a:br/>
            <a:br/>
            <a:r>
              <a:t>Academic Year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Problem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Task: Predict if a person is willing to change job</a:t>
            </a:r>
          </a:p>
          <a:p>
            <a:pPr>
              <a:spcAft>
                <a:spcPts val="1400"/>
              </a:spcAft>
              <a:defRPr sz="2200"/>
            </a:pPr>
            <a:r>
              <a:t>• Dataset: 12,427 training / 3,308 test samples</a:t>
            </a:r>
          </a:p>
          <a:p>
            <a:pPr>
              <a:spcAft>
                <a:spcPts val="1400"/>
              </a:spcAft>
              <a:defRPr sz="2200"/>
            </a:pPr>
            <a:r>
              <a:t>• 14 features: demographics, education, work, company</a:t>
            </a:r>
          </a:p>
          <a:p>
            <a:pPr>
              <a:spcAft>
                <a:spcPts val="1400"/>
              </a:spcAft>
              <a:defRPr sz="2200"/>
            </a:pPr>
            <a:r>
              <a:t>• Target: willing_to_change_job (0/1)</a:t>
            </a:r>
          </a:p>
          <a:p>
            <a:pPr>
              <a:spcAft>
                <a:spcPts val="1400"/>
              </a:spcAft>
              <a:defRPr sz="2200"/>
            </a:pPr>
            <a:r>
              <a:t>• Metric: Balanced Accuracy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Target Distribution</a:t>
            </a:r>
          </a:p>
        </p:txBody>
      </p:sp>
      <p:pic>
        <p:nvPicPr>
          <p:cNvPr id="3" name="Picture 2" descr="fig4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96973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Model Comparison (5-Fold CV)</a:t>
            </a:r>
          </a:p>
        </p:txBody>
      </p:sp>
      <p:pic>
        <p:nvPicPr>
          <p:cNvPr id="3" name="Picture 2" descr="fig1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4494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Best Model: XGBoost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Balanced Accuracy: 0.7719</a:t>
            </a:r>
          </a:p>
          <a:p>
            <a:pPr>
              <a:spcAft>
                <a:spcPts val="1400"/>
              </a:spcAft>
              <a:defRPr sz="2200"/>
            </a:pPr>
            <a:r>
              <a:t>• GridSearchCV tuning (432 combinations)</a:t>
            </a:r>
          </a:p>
          <a:p>
            <a:pPr>
              <a:spcAft>
                <a:spcPts val="1400"/>
              </a:spcAft>
              <a:defRPr sz="2200"/>
            </a:pPr>
            <a:r>
              <a:t>• Parameters: n_estimators=100, max_depth=5</a:t>
            </a:r>
          </a:p>
          <a:p>
            <a:pPr>
              <a:spcAft>
                <a:spcPts val="1400"/>
              </a:spcAft>
              <a:defRPr sz="2200"/>
            </a:pPr>
            <a:r>
              <a:t>• learning_rate=0.05, scale_pos_weight=3</a:t>
            </a:r>
          </a:p>
          <a:p>
            <a:pPr>
              <a:spcAft>
                <a:spcPts val="1400"/>
              </a:spcAft>
              <a:defRPr sz="2200"/>
            </a:pPr>
            <a:r>
              <a:t>• subsample=0.8, colsample_bytree=0.8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Confusion Matrix</a:t>
            </a:r>
          </a:p>
        </p:txBody>
      </p:sp>
      <p:pic>
        <p:nvPicPr>
          <p:cNvPr id="3" name="Picture 2" descr="fig3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73234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Top 20 Feature Importance</a:t>
            </a:r>
          </a:p>
        </p:txBody>
      </p:sp>
      <p:pic>
        <p:nvPicPr>
          <p:cNvPr id="3" name="Picture 2" descr="fig2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72905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Feature Category Importance</a:t>
            </a:r>
          </a:p>
        </p:txBody>
      </p:sp>
      <p:pic>
        <p:nvPicPr>
          <p:cNvPr id="3" name="Picture 2" descr="fig5_category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4568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County (location) is strongest predictor (51%)</a:t>
            </a:r>
          </a:p>
          <a:p>
            <a:pPr>
              <a:spcAft>
                <a:spcPts val="1400"/>
              </a:spcAft>
              <a:defRPr sz="2200"/>
            </a:pPr>
            <a:r>
              <a:t>• Company size and type are significant</a:t>
            </a:r>
          </a:p>
          <a:p>
            <a:pPr>
              <a:spcAft>
                <a:spcPts val="1400"/>
              </a:spcAft>
              <a:defRPr sz="2200"/>
            </a:pPr>
            <a:r>
              <a:t>• Missing info flags are highly predictive</a:t>
            </a:r>
          </a:p>
          <a:p>
            <a:pPr>
              <a:spcAft>
                <a:spcPts val="1400"/>
              </a:spcAft>
              <a:defRPr sz="2200"/>
            </a:pPr>
            <a:r>
              <a:t>• Relative wage is top numeric feature</a:t>
            </a:r>
          </a:p>
          <a:p>
            <a:pPr>
              <a:spcAft>
                <a:spcPts val="1400"/>
              </a:spcAft>
              <a:defRPr sz="2200"/>
            </a:pPr>
            <a:r>
              <a:t>• Demographics have low predictive power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Compared 6 ML algorithms with 5-fold CV</a:t>
            </a:r>
          </a:p>
          <a:p>
            <a:pPr>
              <a:spcAft>
                <a:spcPts val="1400"/>
              </a:spcAft>
              <a:defRPr sz="2200"/>
            </a:pPr>
            <a:r>
              <a:t>• XGBoost selected (Balanced Acc: 0.7719)</a:t>
            </a:r>
          </a:p>
          <a:p>
            <a:pPr>
              <a:spcAft>
                <a:spcPts val="1400"/>
              </a:spcAft>
              <a:defRPr sz="2200"/>
            </a:pPr>
            <a:r>
              <a:t>• Hyperparameters optimized via GridSearchCV</a:t>
            </a:r>
          </a:p>
          <a:p>
            <a:pPr>
              <a:spcAft>
                <a:spcPts val="1400"/>
              </a:spcAft>
              <a:defRPr sz="2200"/>
            </a:pPr>
            <a:r>
              <a:t>• 3,308 test predictions generated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GitHub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[INSERT GITHUB LINK]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